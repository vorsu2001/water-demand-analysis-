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32"/>
    <p:restoredTop sz="94682"/>
  </p:normalViewPr>
  <p:slideViewPr>
    <p:cSldViewPr snapToGrid="0">
      <p:cViewPr varScale="1">
        <p:scale>
          <a:sx n="100" d="100"/>
          <a:sy n="100" d="100"/>
        </p:scale>
        <p:origin x="18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0C4AD-991F-DB4D-A945-8A67B6EE38DD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AA8E1-72F2-F544-8598-CB151CACE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26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Source : Ofwat WCPR 2024-25 | Visualised using Microsoft Power 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AA8E1-72F2-F544-8598-CB151CACE1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14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Ofwat WCPR 2024-25 | Data covers 2019-20 to 2024-25 | Visualised using Microsoft Power BI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AA8E1-72F2-F544-8598-CB151CACE1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58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Source: Ofwat WCPR 2024-25 | Data covers 2019-20 to 2024-25 | Visualised using Microsoft Power BI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AA8E1-72F2-F544-8598-CB151CACE1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63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i="0" dirty="0"/>
              <a:t>Source: Ofwat WCPR 2024-25 | Environment Act 2021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AA8E1-72F2-F544-8598-CB151CACE1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87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Analysis by Jayanth Vorsu | May 2026 | Source: Ofwat WCPR 2024-25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AA8E1-72F2-F544-8598-CB151CACE1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21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3EE5-E93B-429B-7AE3-3A43171CF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2B0E65-8F18-7D8F-6B85-11A984322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A5B1E-5BC9-5250-CE68-78005BE1C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0C3B-7449-3046-B352-AF5D15BCD472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4A5A5-B8BC-4ED4-6550-1861B0B65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9C832-45FB-E5C8-4EE6-04298D677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B86B6-B850-3F4A-BB12-CC957F29D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6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A7AC5-EAA0-B5BF-617B-2FF39E0C7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DA2D-F1EE-9A6E-B528-93D3E02B2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111E9-5C1F-E647-C5C3-C9DA7D5A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0C3B-7449-3046-B352-AF5D15BCD472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57688-D901-062B-392C-1E8BD6E69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308B6-C047-DD06-C2BA-71DFFFBB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B86B6-B850-3F4A-BB12-CC957F29D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1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10BBC-DB1B-FAC8-2424-70A1AFC87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55DD1-24F9-895A-3001-E3D59E0DA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7A2C2-B0AA-1374-DA4A-52168E18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0C3B-7449-3046-B352-AF5D15BCD472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6CE66-5F2C-14D3-5736-89BBFB38B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778B1-5FC4-6187-E884-F5ADD5269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B86B6-B850-3F4A-BB12-CC957F29D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26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BA1D-EEB5-AF5B-E0A4-4F708315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BC10B-F2B7-0DF3-51CF-B8955C98C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B6D0E-6644-E335-EE70-857B58AA9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5FAD4-602E-B4FB-6636-C00EC8175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0C3B-7449-3046-B352-AF5D15BCD472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36F2A7-05DA-2320-050A-8D14CE118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4B0AC-DCAD-0871-A3CD-50FBE56DA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B86B6-B850-3F4A-BB12-CC957F29D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72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CCBC-2BDD-1B8F-C1EC-637E53D4A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91E3D-E976-B79D-8AF4-7A2B0A5C5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44163-698F-985A-C4C6-6C3C93AAC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143D8-D97F-05A1-05B5-4D7075EDC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B26B1-AF0A-840F-DD19-AB8D2EF4C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DAEE75-BF8B-5C61-6EC2-ABA67993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0C3B-7449-3046-B352-AF5D15BCD472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D1AF22-6BC8-CDD0-96EC-788C95C9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1ADBBE-1D2E-9F33-1B3A-401DDFAA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B86B6-B850-3F4A-BB12-CC957F29D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4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6A8-099A-D3B8-237B-723FE86FD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EFB454-CF7A-CC5C-AB34-89D99AF2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0C3B-7449-3046-B352-AF5D15BCD472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4EA2C-0423-97B9-124B-FF4F998C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C7D58-5644-C749-F5D5-CF872938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B86B6-B850-3F4A-BB12-CC957F29D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77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F93D59-6E66-8305-2048-70C785C3B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0C3B-7449-3046-B352-AF5D15BCD472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BCDFD2-6596-9AFC-A8AC-6D3338274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4E4DB-6992-D431-CD67-F9F1420D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B86B6-B850-3F4A-BB12-CC957F29D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0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232E7-E63A-E25A-2239-BC4430A2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CDC11-DAB5-0B35-CCCC-CB2309A87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22463-0482-1221-05DB-BD575B861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74536-B79A-D3B4-C2C0-AFD5729C4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0C3B-7449-3046-B352-AF5D15BCD472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106FF-1DE1-F2A5-2011-35F08801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3942E-8EE3-6EC5-A4F0-57AF2E02F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B86B6-B850-3F4A-BB12-CC957F29D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4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24AE-E4BD-9FE4-5BCB-5EA2D80A7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E6CEE-E9EF-FB86-A19D-0C1BD3DFAC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62F6E-D0E5-BBD0-4191-436164A13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13A1E-802E-4D32-F3EC-AE98270C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0C3B-7449-3046-B352-AF5D15BCD472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A1C10-6A43-7047-7ED1-CA34B855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BEE3E-BE50-BBE7-0818-D8CAAECD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B86B6-B850-3F4A-BB12-CC957F29D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0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667E-51CD-0444-021D-D968B7C8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D0865-01B6-B9B6-EB05-855480329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DF406-2FF9-DD9E-241D-A6D682184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0C3B-7449-3046-B352-AF5D15BCD472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C23A6-760D-8DB5-8E4F-6A410D48E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BECEF-081D-67A9-407A-CFB3C27C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B86B6-B850-3F4A-BB12-CC957F29D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93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BD04EA-9507-205A-F5C6-31C2C5AAB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FDFA2E-C00C-FCBF-7498-12541618E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B5F5A-1C23-E036-762C-8104252F6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0C3B-7449-3046-B352-AF5D15BCD472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9FDCE-9064-9101-1558-CE132C82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E06E7-E9EA-D520-1F33-77690FAF2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B86B6-B850-3F4A-BB12-CC957F29D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96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109079-B8F0-D674-C387-8B4B8A9E7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62423-4DBF-834B-7F84-C086DA3B5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A358B-01C8-F54D-F015-BD7A56DF5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C0C3B-7449-3046-B352-AF5D15BCD472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F5ACC-9B4C-0837-8FC5-A63B810F8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7076E-0440-3015-7C84-751021B60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B86B6-B850-3F4A-BB12-CC957F29D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01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AAA90-99F4-05C4-AF8E-64D804C47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3700">
                <a:solidFill>
                  <a:srgbClr val="FFFFFF"/>
                </a:solidFill>
              </a:rPr>
              <a:t>Pennon Group Water Demand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69EB24-8C55-3A00-C8A9-9C0EC1B82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 fontScale="92500" lnSpcReduction="10000"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</a:rPr>
              <a:t>Strategic Assessment 2024-2050</a:t>
            </a:r>
          </a:p>
          <a:p>
            <a:pPr algn="l"/>
            <a:r>
              <a:rPr lang="en-US" sz="1100" dirty="0">
                <a:solidFill>
                  <a:srgbClr val="FFFFFF"/>
                </a:solidFill>
              </a:rPr>
              <a:t>Prepared by Jayanth Vorsu | May 2026</a:t>
            </a:r>
          </a:p>
          <a:p>
            <a:pPr algn="l"/>
            <a:r>
              <a:rPr lang="en-US" sz="1100" dirty="0">
                <a:solidFill>
                  <a:srgbClr val="FFFFFF"/>
                </a:solidFill>
              </a:rPr>
              <a:t>Data Source: </a:t>
            </a:r>
            <a:r>
              <a:rPr lang="en-GB" sz="1100" dirty="0">
                <a:solidFill>
                  <a:schemeClr val="bg1"/>
                </a:solidFill>
              </a:rPr>
              <a:t>Ofwat WCPR 2024-25 | Data covers 2019-20 to 2024-25 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4D270-D83F-0663-0163-B951777A8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5" y="965416"/>
            <a:ext cx="11327549" cy="336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89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Bg"/>
          <p:cNvSpPr/>
          <p:nvPr/>
        </p:nvSpPr>
        <p:spPr>
          <a:xfrm>
            <a:off x="558209" y="0"/>
            <a:ext cx="11167447" cy="1728000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AccentBar"/>
          <p:cNvSpPr/>
          <p:nvPr/>
        </p:nvSpPr>
        <p:spPr>
          <a:xfrm>
            <a:off x="498834" y="5000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BABC26-0631-DBF9-C04F-AF6E0B7E8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30000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accent4"/>
                </a:solidFill>
              </a:rPr>
              <a:t>The Challenge: Where Are We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24091-EE3F-4D7A-4A63-74CDB6593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0000"/>
            <a:ext cx="10515600" cy="3800000"/>
          </a:xfrm>
        </p:spPr>
        <p:txBody>
          <a:bodyPr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GB" sz="1800" dirty="0">
                <a:solidFill>
                  <a:srgbClr val="333333"/>
                </a:solidFill>
              </a:rPr>
              <a:t>Across all three Pennon companies, per capita consumption remains at </a:t>
            </a:r>
            <a:r>
              <a:rPr lang="en-GB" sz="1800" b="1" dirty="0">
                <a:solidFill>
                  <a:schemeClr val="accent4"/>
                </a:solidFill>
              </a:rPr>
              <a:t>146–148 litres per day</a:t>
            </a:r>
            <a:r>
              <a:rPr lang="en-GB" sz="1800" dirty="0">
                <a:solidFill>
                  <a:srgbClr val="333333"/>
                </a:solidFill>
              </a:rPr>
              <a:t> — significantly exceeding the Environment Act 2021 benchmark of </a:t>
            </a:r>
            <a:r>
              <a:rPr lang="en-GB" sz="1800" b="1" dirty="0">
                <a:solidFill>
                  <a:schemeClr val="accent4"/>
                </a:solidFill>
              </a:rPr>
              <a:t>110 l/p/d</a:t>
            </a:r>
            <a:r>
              <a:rPr lang="en-GB" sz="1800" dirty="0">
                <a:solidFill>
                  <a:srgbClr val="333333"/>
                </a:solidFill>
              </a:rPr>
              <a:t> set for 2050</a:t>
            </a:r>
          </a:p>
          <a:p>
            <a:pPr>
              <a:spcAft>
                <a:spcPts val="1000"/>
              </a:spcAft>
            </a:pPr>
            <a:r>
              <a:rPr lang="en-GB" sz="1800" dirty="0">
                <a:solidFill>
                  <a:srgbClr val="333333"/>
                </a:solidFill>
              </a:rPr>
              <a:t>At </a:t>
            </a:r>
            <a:r>
              <a:rPr lang="en-GB" sz="1800" b="1" dirty="0">
                <a:solidFill>
                  <a:schemeClr val="accent4"/>
                </a:solidFill>
              </a:rPr>
              <a:t>107.8 </a:t>
            </a:r>
            <a:r>
              <a:rPr lang="en-GB" sz="1800" b="1" dirty="0" err="1">
                <a:solidFill>
                  <a:schemeClr val="accent4"/>
                </a:solidFill>
              </a:rPr>
              <a:t>Ml</a:t>
            </a:r>
            <a:r>
              <a:rPr lang="en-GB" sz="1800" b="1" dirty="0">
                <a:solidFill>
                  <a:schemeClr val="accent4"/>
                </a:solidFill>
              </a:rPr>
              <a:t>/day</a:t>
            </a:r>
            <a:r>
              <a:rPr lang="en-GB" sz="1800" dirty="0">
                <a:solidFill>
                  <a:srgbClr val="333333"/>
                </a:solidFill>
              </a:rPr>
              <a:t>, South West Water’s leakage rate approaches nearly twice the 2050 target of </a:t>
            </a:r>
            <a:r>
              <a:rPr lang="en-GB" sz="1800" b="1" dirty="0">
                <a:solidFill>
                  <a:schemeClr val="accent4"/>
                </a:solidFill>
              </a:rPr>
              <a:t>61.75 </a:t>
            </a:r>
            <a:r>
              <a:rPr lang="en-GB" sz="1800" b="1" dirty="0" err="1">
                <a:solidFill>
                  <a:schemeClr val="accent4"/>
                </a:solidFill>
              </a:rPr>
              <a:t>Ml</a:t>
            </a:r>
            <a:r>
              <a:rPr lang="en-GB" sz="1800" b="1" dirty="0">
                <a:solidFill>
                  <a:schemeClr val="accent4"/>
                </a:solidFill>
              </a:rPr>
              <a:t>/day</a:t>
            </a:r>
          </a:p>
          <a:p>
            <a:r>
              <a:rPr lang="en-GB" sz="1800" dirty="0">
                <a:solidFill>
                  <a:srgbClr val="333333"/>
                </a:solidFill>
              </a:rPr>
              <a:t>The 2020-21 demand surge driven by </a:t>
            </a:r>
            <a:r>
              <a:rPr lang="en-GB" sz="1800" b="1" dirty="0">
                <a:solidFill>
                  <a:schemeClr val="accent4"/>
                </a:solidFill>
              </a:rPr>
              <a:t>COVID-19</a:t>
            </a:r>
            <a:r>
              <a:rPr lang="en-GB" sz="1800" dirty="0">
                <a:solidFill>
                  <a:srgbClr val="333333"/>
                </a:solidFill>
              </a:rPr>
              <a:t> temporarily undid years of reduction efforts, exposing the susceptibility of demand projections to unforeseen external disruptions</a:t>
            </a:r>
            <a:endParaRPr lang="en-US" sz="1800" dirty="0"/>
          </a:p>
        </p:txBody>
      </p:sp>
      <p:sp>
        <p:nvSpPr>
          <p:cNvPr id="22" name="SourceText"/>
          <p:cNvSpPr txBox="1"/>
          <p:nvPr/>
        </p:nvSpPr>
        <p:spPr>
          <a:xfrm>
            <a:off x="838200" y="6400000"/>
            <a:ext cx="10515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i="1">
                <a:solidFill>
                  <a:srgbClr val="777777"/>
                </a:solidFill>
              </a:rPr>
              <a:t>Source: Ofwat WCPR 2024-25 | Visualised using Microsoft Power BI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198022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19FA4-3E66-A6BF-2E74-F10E6C19A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dirty="0">
                <a:solidFill>
                  <a:schemeClr val="accent4"/>
                </a:solidFill>
              </a:rPr>
              <a:t>Per Capita Consumption: Trend Analysis 2019-2025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ontent Placeholder 12">
            <a:extLst>
              <a:ext uri="{FF2B5EF4-FFF2-40B4-BE49-F238E27FC236}">
                <a16:creationId xmlns:a16="http://schemas.microsoft.com/office/drawing/2014/main" id="{706F2EAE-BE41-0162-F905-C02230D44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</a:pPr>
            <a:r>
              <a:rPr lang="en-GB" sz="1800">
                <a:solidFill>
                  <a:srgbClr val="333333"/>
                </a:solidFill>
              </a:rPr>
              <a:t>All three companies show a general downward PCC trend, but the </a:t>
            </a:r>
            <a:r>
              <a:rPr lang="en-GB" sz="1800" b="1">
                <a:solidFill>
                  <a:schemeClr val="accent4"/>
                </a:solidFill>
              </a:rPr>
              <a:t>2020-21 COVID spike</a:t>
            </a:r>
            <a:r>
              <a:rPr lang="en-GB" sz="1800">
                <a:solidFill>
                  <a:srgbClr val="333333"/>
                </a:solidFill>
              </a:rPr>
              <a:t> demonstrates how quickly progress can be reversed</a:t>
            </a:r>
          </a:p>
          <a:p>
            <a:r>
              <a:rPr lang="en-GB" sz="1800">
                <a:solidFill>
                  <a:srgbClr val="333333"/>
                </a:solidFill>
              </a:rPr>
              <a:t>At the current rate of reduction, no company will reach the </a:t>
            </a:r>
            <a:r>
              <a:rPr lang="en-GB" sz="1800" b="1">
                <a:solidFill>
                  <a:schemeClr val="accent4"/>
                </a:solidFill>
              </a:rPr>
              <a:t>110 l/p/d target</a:t>
            </a:r>
            <a:r>
              <a:rPr lang="en-GB" sz="1800">
                <a:solidFill>
                  <a:srgbClr val="333333"/>
                </a:solidFill>
              </a:rPr>
              <a:t> without significantly accelerating demand management activity in AMP8</a:t>
            </a:r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E96C74-1C54-A729-64DD-BBD129459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33" y="2054860"/>
            <a:ext cx="6912619" cy="4254500"/>
          </a:xfrm>
          <a:prstGeom prst="rect">
            <a:avLst/>
          </a:prstGeom>
        </p:spPr>
      </p:pic>
      <p:sp>
        <p:nvSpPr>
          <p:cNvPr id="35" name="SourceText"/>
          <p:cNvSpPr txBox="1"/>
          <p:nvPr/>
        </p:nvSpPr>
        <p:spPr>
          <a:xfrm>
            <a:off x="838200" y="6400000"/>
            <a:ext cx="10515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i="1">
                <a:solidFill>
                  <a:srgbClr val="777777"/>
                </a:solidFill>
              </a:rPr>
              <a:t>Source: Ofwat WCPR 2024-25 | Data covers 2019-20 to 2024-25 | Visualised using Microsoft Power BI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535130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BD322-C968-6CC3-08EB-25BA86E3D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Leakage Performance: Progress and Challenges</a:t>
            </a:r>
            <a:br>
              <a:rPr lang="en-GB" sz="3600" dirty="0"/>
            </a:br>
            <a:endParaRPr lang="en-US" sz="3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08F52F-D028-57F1-1992-AD1C1C018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084169"/>
            <a:ext cx="6702552" cy="3786941"/>
          </a:xfrm>
          <a:prstGeom prst="rect">
            <a:avLst/>
          </a:prstGeom>
        </p:spPr>
      </p:pic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DEB93016-A754-645C-F72A-7CC72248D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0000" y="2020824"/>
            <a:ext cx="3900000" cy="3959352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</a:pPr>
            <a:r>
              <a:rPr lang="en-GB" sz="1600">
                <a:solidFill>
                  <a:srgbClr val="333333"/>
                </a:solidFill>
              </a:rPr>
              <a:t>South West Water’s leakage of </a:t>
            </a:r>
            <a:r>
              <a:rPr lang="en-GB" sz="1600" b="1">
                <a:solidFill>
                  <a:schemeClr val="accent4"/>
                </a:solidFill>
              </a:rPr>
              <a:t>107.8 Ml/day</a:t>
            </a:r>
            <a:r>
              <a:rPr lang="en-GB" sz="1600">
                <a:solidFill>
                  <a:srgbClr val="333333"/>
                </a:solidFill>
              </a:rPr>
              <a:t> remains the group’s most significant challenge — nearly double its 2050 target of </a:t>
            </a:r>
            <a:r>
              <a:rPr lang="en-GB" sz="1600" b="1">
                <a:solidFill>
                  <a:schemeClr val="accent4"/>
                </a:solidFill>
              </a:rPr>
              <a:t>61.75 Ml/day</a:t>
            </a:r>
            <a:r>
              <a:rPr lang="en-GB" sz="1600">
                <a:solidFill>
                  <a:srgbClr val="333333"/>
                </a:solidFill>
              </a:rPr>
              <a:t>. Significant and sustained reduction is required throughout AMP8 and beyond</a:t>
            </a:r>
          </a:p>
          <a:p>
            <a:r>
              <a:rPr lang="en-GB" sz="1600">
                <a:solidFill>
                  <a:srgbClr val="333333"/>
                </a:solidFill>
              </a:rPr>
              <a:t>SES Water is the group’s leakage success story — reducing from </a:t>
            </a:r>
            <a:r>
              <a:rPr lang="en-GB" sz="1600" b="1">
                <a:solidFill>
                  <a:schemeClr val="accent4"/>
                </a:solidFill>
              </a:rPr>
              <a:t>24.8 Ml/day</a:t>
            </a:r>
            <a:r>
              <a:rPr lang="en-GB" sz="1600">
                <a:solidFill>
                  <a:srgbClr val="333333"/>
                </a:solidFill>
              </a:rPr>
              <a:t> in 2019-20 to </a:t>
            </a:r>
            <a:r>
              <a:rPr lang="en-GB" sz="1600" b="1">
                <a:solidFill>
                  <a:schemeClr val="accent4"/>
                </a:solidFill>
              </a:rPr>
              <a:t>20.0 Ml/day</a:t>
            </a:r>
            <a:r>
              <a:rPr lang="en-GB" sz="1600">
                <a:solidFill>
                  <a:srgbClr val="333333"/>
                </a:solidFill>
              </a:rPr>
              <a:t> in 2024-25, already meeting its AMP7 leakage commitment</a:t>
            </a:r>
            <a:endParaRPr lang="en-US" sz="1600"/>
          </a:p>
        </p:txBody>
      </p:sp>
      <p:sp>
        <p:nvSpPr>
          <p:cNvPr id="35" name="SourceText"/>
          <p:cNvSpPr txBox="1"/>
          <p:nvPr/>
        </p:nvSpPr>
        <p:spPr>
          <a:xfrm>
            <a:off x="838200" y="6400000"/>
            <a:ext cx="10515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i="1" dirty="0">
                <a:solidFill>
                  <a:srgbClr val="777777"/>
                </a:solidFill>
              </a:rPr>
              <a:t>Source: Ofwat WCPR 2024-25 | Data covers 2019-20 to 2024-25 | Visualised using Microsoft Power BI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61584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aderBg"/>
          <p:cNvSpPr/>
          <p:nvPr/>
        </p:nvSpPr>
        <p:spPr>
          <a:xfrm>
            <a:off x="558209" y="0"/>
            <a:ext cx="11167447" cy="1728000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AccentBar"/>
          <p:cNvSpPr/>
          <p:nvPr/>
        </p:nvSpPr>
        <p:spPr>
          <a:xfrm>
            <a:off x="498834" y="5000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F4FBAB-D27C-D0DF-8227-E55D658B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300000"/>
            <a:ext cx="10168128" cy="1179576"/>
          </a:xfrm>
        </p:spPr>
        <p:txBody>
          <a:bodyPr>
            <a:normAutofit/>
          </a:bodyPr>
          <a:lstStyle/>
          <a:p>
            <a:r>
              <a:rPr lang="en-GB" sz="3700">
                <a:solidFill>
                  <a:schemeClr val="accent4"/>
                </a:solidFill>
              </a:rPr>
              <a:t>SES Water: The Priority Region for AMP8</a:t>
            </a:r>
            <a:endParaRPr lang="en-US" sz="370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CF2AD-54DF-CE05-96FA-394610B4A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0000"/>
            <a:ext cx="10515600" cy="3800000"/>
          </a:xfrm>
        </p:spPr>
        <p:txBody>
          <a:bodyPr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GB" sz="1800">
                <a:solidFill>
                  <a:srgbClr val="333333"/>
                </a:solidFill>
              </a:rPr>
              <a:t>SES Water joined the Pennon Group through acquisition, bringing a separate data infrastructure and customer base that requires dedicated demand management focus</a:t>
            </a:r>
          </a:p>
          <a:p>
            <a:pPr>
              <a:spcAft>
                <a:spcPts val="1000"/>
              </a:spcAft>
            </a:pPr>
            <a:r>
              <a:rPr lang="en-GB" sz="1800">
                <a:solidFill>
                  <a:srgbClr val="333333"/>
                </a:solidFill>
              </a:rPr>
              <a:t>Despite strong leakage performance — already meeting its AMP7 target at </a:t>
            </a:r>
            <a:r>
              <a:rPr lang="en-GB" sz="1800" b="1">
                <a:solidFill>
                  <a:schemeClr val="accent4"/>
                </a:solidFill>
              </a:rPr>
              <a:t>20.0 Ml/day</a:t>
            </a:r>
            <a:r>
              <a:rPr lang="en-GB" sz="1800">
                <a:solidFill>
                  <a:srgbClr val="333333"/>
                </a:solidFill>
              </a:rPr>
              <a:t> — SES household PCC has remained stubbornly above </a:t>
            </a:r>
            <a:r>
              <a:rPr lang="en-GB" sz="1800" b="1">
                <a:solidFill>
                  <a:schemeClr val="accent4"/>
                </a:solidFill>
              </a:rPr>
              <a:t>146 l/p/d</a:t>
            </a:r>
            <a:r>
              <a:rPr lang="en-GB" sz="1800">
                <a:solidFill>
                  <a:srgbClr val="333333"/>
                </a:solidFill>
              </a:rPr>
              <a:t> with no meaningful reduction in recent years</a:t>
            </a:r>
          </a:p>
          <a:p>
            <a:r>
              <a:rPr lang="en-GB" sz="1800">
                <a:solidFill>
                  <a:srgbClr val="333333"/>
                </a:solidFill>
              </a:rPr>
              <a:t>A targeted smart metering roll-out across the SES region would provide real-time household consumption data, enabling identification of high users and driving PCC reduction of an estimated </a:t>
            </a:r>
            <a:r>
              <a:rPr lang="en-GB" sz="1800" b="1">
                <a:solidFill>
                  <a:schemeClr val="accent4"/>
                </a:solidFill>
              </a:rPr>
              <a:t>5–8 l/p/d within three years</a:t>
            </a:r>
            <a:endParaRPr lang="en-US" sz="1800"/>
          </a:p>
        </p:txBody>
      </p:sp>
      <p:sp>
        <p:nvSpPr>
          <p:cNvPr id="22" name="SourceText"/>
          <p:cNvSpPr txBox="1"/>
          <p:nvPr/>
        </p:nvSpPr>
        <p:spPr>
          <a:xfrm>
            <a:off x="838200" y="6400000"/>
            <a:ext cx="10515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i="1">
                <a:solidFill>
                  <a:srgbClr val="777777"/>
                </a:solidFill>
              </a:rPr>
              <a:t>Source: Ofwat WCPR 2024-25 | Environment Act 2021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760050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Bg"/>
          <p:cNvSpPr/>
          <p:nvPr/>
        </p:nvSpPr>
        <p:spPr>
          <a:xfrm>
            <a:off x="558209" y="0"/>
            <a:ext cx="11167447" cy="1728000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AccentBar"/>
          <p:cNvSpPr/>
          <p:nvPr/>
        </p:nvSpPr>
        <p:spPr>
          <a:xfrm>
            <a:off x="498834" y="5000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313BA-A83F-904A-3493-7FF4EA374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300000"/>
            <a:ext cx="10168128" cy="1179576"/>
          </a:xfrm>
        </p:spPr>
        <p:txBody>
          <a:bodyPr>
            <a:normAutofit/>
          </a:bodyPr>
          <a:lstStyle/>
          <a:p>
            <a:r>
              <a:rPr lang="en-GB" sz="3200">
                <a:solidFill>
                  <a:schemeClr val="accent4"/>
                </a:solidFill>
              </a:rPr>
              <a:t>Three Recommendations for AMP8 Delivery</a:t>
            </a:r>
            <a:endParaRPr lang="en-US" sz="3200">
              <a:solidFill>
                <a:schemeClr val="accent4"/>
              </a:solidFill>
            </a:endParaRPr>
          </a:p>
        </p:txBody>
      </p:sp>
      <p:sp>
        <p:nvSpPr>
          <p:cNvPr id="40" name="Card1Bg"/>
          <p:cNvSpPr/>
          <p:nvPr/>
        </p:nvSpPr>
        <p:spPr>
          <a:xfrm>
            <a:off x="838200" y="1950000"/>
            <a:ext cx="3350000" cy="4350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1E1E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Card1Num"/>
          <p:cNvSpPr/>
          <p:nvPr/>
        </p:nvSpPr>
        <p:spPr>
          <a:xfrm>
            <a:off x="1000000" y="2150000"/>
            <a:ext cx="450000" cy="45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2" name="Card1Text"/>
          <p:cNvSpPr txBox="1"/>
          <p:nvPr/>
        </p:nvSpPr>
        <p:spPr>
          <a:xfrm>
            <a:off x="1000000" y="2700000"/>
            <a:ext cx="3000000" cy="34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>
              <a:spcAft>
                <a:spcPts val="600"/>
              </a:spcAft>
            </a:pPr>
            <a:r>
              <a:rPr lang="en-GB" sz="1600" b="1">
                <a:solidFill>
                  <a:schemeClr val="accent4"/>
                </a:solidFill>
              </a:rPr>
              <a:t>Smart Metering in SES Region</a:t>
            </a:r>
          </a:p>
          <a:p>
            <a:r>
              <a:rPr lang="en-GB" sz="1400">
                <a:solidFill>
                  <a:srgbClr val="333333"/>
                </a:solidFill>
              </a:rPr>
              <a:t>Roll out smart metering across SES Water as a priority. Targeted at households with highest consumption, this programme could reduce SES PCC by </a:t>
            </a:r>
            <a:r>
              <a:rPr lang="en-GB" sz="1400" b="1">
                <a:solidFill>
                  <a:schemeClr val="accent4"/>
                </a:solidFill>
              </a:rPr>
              <a:t>5–8 l/p/d within three years</a:t>
            </a:r>
            <a:r>
              <a:rPr lang="en-GB" sz="1400">
                <a:solidFill>
                  <a:srgbClr val="333333"/>
                </a:solidFill>
              </a:rPr>
              <a:t> at relatively low cost given the region’s smaller customer base</a:t>
            </a:r>
          </a:p>
        </p:txBody>
      </p:sp>
      <p:sp>
        <p:nvSpPr>
          <p:cNvPr id="50" name="Card2Bg"/>
          <p:cNvSpPr/>
          <p:nvPr/>
        </p:nvSpPr>
        <p:spPr>
          <a:xfrm>
            <a:off x="4421000" y="1950000"/>
            <a:ext cx="3350000" cy="4350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1E1E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Card2Num"/>
          <p:cNvSpPr/>
          <p:nvPr/>
        </p:nvSpPr>
        <p:spPr>
          <a:xfrm>
            <a:off x="4583000" y="2150000"/>
            <a:ext cx="450000" cy="45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2" name="Card2Text"/>
          <p:cNvSpPr txBox="1"/>
          <p:nvPr/>
        </p:nvSpPr>
        <p:spPr>
          <a:xfrm>
            <a:off x="4583000" y="2700000"/>
            <a:ext cx="3000000" cy="34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>
              <a:spcAft>
                <a:spcPts val="600"/>
              </a:spcAft>
            </a:pPr>
            <a:r>
              <a:rPr lang="en-GB" sz="1600" b="1">
                <a:solidFill>
                  <a:schemeClr val="accent2"/>
                </a:solidFill>
              </a:rPr>
              <a:t>Expand the Business Innovation Fund</a:t>
            </a:r>
          </a:p>
          <a:p>
            <a:r>
              <a:rPr lang="en-GB" sz="1400">
                <a:solidFill>
                  <a:srgbClr val="333333"/>
                </a:solidFill>
              </a:rPr>
              <a:t>The current </a:t>
            </a:r>
            <a:r>
              <a:rPr lang="en-GB" sz="1400" b="1">
                <a:solidFill>
                  <a:schemeClr val="accent2"/>
                </a:solidFill>
              </a:rPr>
              <a:t>£15,000</a:t>
            </a:r>
            <a:r>
              <a:rPr lang="en-GB" sz="1400">
                <a:solidFill>
                  <a:srgbClr val="333333"/>
                </a:solidFill>
              </a:rPr>
              <a:t> grant ceiling may be excluding larger industrial applicants. A tiered structure of £15,000 for SMEs and up to </a:t>
            </a:r>
            <a:r>
              <a:rPr lang="en-GB" sz="1400" b="1">
                <a:solidFill>
                  <a:schemeClr val="accent2"/>
                </a:solidFill>
              </a:rPr>
              <a:t>£50,000</a:t>
            </a:r>
            <a:r>
              <a:rPr lang="en-GB" sz="1400">
                <a:solidFill>
                  <a:srgbClr val="333333"/>
                </a:solidFill>
              </a:rPr>
              <a:t> for larger businesses could unlock projects saving an estimated </a:t>
            </a:r>
            <a:r>
              <a:rPr lang="en-GB" sz="1400" b="1">
                <a:solidFill>
                  <a:schemeClr val="accent2"/>
                </a:solidFill>
              </a:rPr>
              <a:t>5–10 Ml/year</a:t>
            </a:r>
            <a:r>
              <a:rPr lang="en-GB" sz="1400">
                <a:solidFill>
                  <a:srgbClr val="333333"/>
                </a:solidFill>
              </a:rPr>
              <a:t> in additional water savings</a:t>
            </a:r>
          </a:p>
        </p:txBody>
      </p:sp>
      <p:sp>
        <p:nvSpPr>
          <p:cNvPr id="60" name="Card3Bg"/>
          <p:cNvSpPr/>
          <p:nvPr/>
        </p:nvSpPr>
        <p:spPr>
          <a:xfrm>
            <a:off x="8003800" y="1950000"/>
            <a:ext cx="3350000" cy="4350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1E1E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ard3Num"/>
          <p:cNvSpPr/>
          <p:nvPr/>
        </p:nvSpPr>
        <p:spPr>
          <a:xfrm>
            <a:off x="8165800" y="2150000"/>
            <a:ext cx="450000" cy="45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2" name="Card3Text"/>
          <p:cNvSpPr txBox="1"/>
          <p:nvPr/>
        </p:nvSpPr>
        <p:spPr>
          <a:xfrm>
            <a:off x="8165800" y="2700000"/>
            <a:ext cx="3000000" cy="34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>
              <a:spcAft>
                <a:spcPts val="600"/>
              </a:spcAft>
            </a:pPr>
            <a:r>
              <a:rPr lang="en-GB" sz="1600" b="1">
                <a:solidFill>
                  <a:schemeClr val="accent3"/>
                </a:solidFill>
              </a:rPr>
              <a:t>Unified Demand Data Platform</a:t>
            </a:r>
          </a:p>
          <a:p>
            <a:r>
              <a:rPr lang="en-GB" sz="1400">
                <a:solidFill>
                  <a:srgbClr val="333333"/>
                </a:solidFill>
              </a:rPr>
              <a:t>Build a consolidated Power BI platform pulling live data from SWW, Bristol and SES. This would enable </a:t>
            </a:r>
            <a:r>
              <a:rPr lang="en-GB" sz="1400" b="1">
                <a:solidFill>
                  <a:schemeClr val="accent3"/>
                </a:solidFill>
              </a:rPr>
              <a:t>real-time cross-regional performance comparison</a:t>
            </a:r>
            <a:r>
              <a:rPr lang="en-GB" sz="1400">
                <a:solidFill>
                  <a:srgbClr val="333333"/>
                </a:solidFill>
              </a:rPr>
              <a:t>, faster regulatory reporting and more accurate WRMP modelling across the group</a:t>
            </a:r>
          </a:p>
        </p:txBody>
      </p:sp>
      <p:sp>
        <p:nvSpPr>
          <p:cNvPr id="70" name="SourceText"/>
          <p:cNvSpPr txBox="1"/>
          <p:nvPr/>
        </p:nvSpPr>
        <p:spPr>
          <a:xfrm>
            <a:off x="838200" y="6400000"/>
            <a:ext cx="10515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i="1">
                <a:solidFill>
                  <a:srgbClr val="777777"/>
                </a:solidFill>
              </a:rPr>
              <a:t>Analysis by Jayanth Vorsu | May 2026 | Source: Ofwat WCPR 2024-25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12631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ttomBar1"/>
          <p:cNvSpPr/>
          <p:nvPr/>
        </p:nvSpPr>
        <p:spPr>
          <a:xfrm>
            <a:off x="0" y="4200000"/>
            <a:ext cx="12192000" cy="26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BottomBar2"/>
          <p:cNvSpPr/>
          <p:nvPr/>
        </p:nvSpPr>
        <p:spPr>
          <a:xfrm flipH="1">
            <a:off x="0" y="4200000"/>
            <a:ext cx="8115300" cy="2658000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BottomBar3"/>
          <p:cNvSpPr/>
          <p:nvPr/>
        </p:nvSpPr>
        <p:spPr>
          <a:xfrm flipH="1">
            <a:off x="0" y="4200000"/>
            <a:ext cx="12192000" cy="2658000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AccentLine"/>
          <p:cNvSpPr/>
          <p:nvPr/>
        </p:nvSpPr>
        <p:spPr>
          <a:xfrm>
            <a:off x="5400000" y="2800000"/>
            <a:ext cx="1392000" cy="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F0EDED-479B-75B2-C123-3B94B73FF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00000"/>
            <a:ext cx="9144000" cy="1400000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accent4"/>
                </a:solidFill>
              </a:rPr>
              <a:t>Thank You</a:t>
            </a:r>
          </a:p>
        </p:txBody>
      </p:sp>
      <p:sp>
        <p:nvSpPr>
          <p:cNvPr id="25" name="Subtitle"/>
          <p:cNvSpPr txBox="1"/>
          <p:nvPr/>
        </p:nvSpPr>
        <p:spPr>
          <a:xfrm>
            <a:off x="2500000" y="3100000"/>
            <a:ext cx="7192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GB" sz="1600" i="1">
                <a:solidFill>
                  <a:srgbClr val="666666"/>
                </a:solidFill>
              </a:rPr>
              <a:t>Pennon Group Water Demand Analysis | Strategic Assessment 2024–2050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9AF4A-8AEA-6A99-6322-02AD868A7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600000"/>
            <a:ext cx="9144000" cy="1800000"/>
          </a:xfrm>
        </p:spPr>
        <p:txBody>
          <a:bodyPr anchor="ctr">
            <a:norm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Jayanth Vorsu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CCCCCC"/>
                </a:solidFill>
              </a:rPr>
              <a:t>Customer Service Representative — Billing, South West Water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CCCCCC"/>
                </a:solidFill>
              </a:rPr>
              <a:t>jayanth.vorsu@gmail.com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80434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660</Words>
  <Application>Microsoft Macintosh PowerPoint</Application>
  <PresentationFormat>Widescreen</PresentationFormat>
  <Paragraphs>48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Pennon Group Water Demand Analysis</vt:lpstr>
      <vt:lpstr>The Challenge: Where Are We Now</vt:lpstr>
      <vt:lpstr>Per Capita Consumption: Trend Analysis 2019-2025</vt:lpstr>
      <vt:lpstr>Leakage Performance: Progress and Challenges </vt:lpstr>
      <vt:lpstr>SES Water: The Priority Region for AMP8</vt:lpstr>
      <vt:lpstr>Three Recommendations for AMP8 Delivery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Jayanth VORSU</dc:creator>
  <cp:lastModifiedBy>Jayanth VORSU</cp:lastModifiedBy>
  <cp:revision>2</cp:revision>
  <dcterms:created xsi:type="dcterms:W3CDTF">2026-05-24T20:15:47Z</dcterms:created>
  <dcterms:modified xsi:type="dcterms:W3CDTF">2026-05-25T15:17:17Z</dcterms:modified>
</cp:coreProperties>
</file>